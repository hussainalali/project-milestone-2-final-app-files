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67360" y="895536"/>
            <a:ext cx="280928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Imam Abdulrahman Bin Faisal University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167360" y="1125922"/>
            <a:ext cx="280928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CB67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Business Applications | BIS 351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328095" y="1969080"/>
            <a:ext cx="2487811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50" b="1" spc="-2" kern="0" dirty="0">
                <a:solidFill>
                  <a:srgbClr val="7F5AF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ChefLak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2085082" y="2970991"/>
            <a:ext cx="4973836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3" kern="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 CHEF BOOKING PLATFORM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3672864"/>
            <a:ext cx="7315200" cy="5607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3672864"/>
            <a:ext cx="7315200" cy="7144"/>
          </a:xfrm>
          <a:prstGeom prst="rect">
            <a:avLst/>
          </a:prstGeom>
          <a:solidFill>
            <a:srgbClr val="EDEEF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890749"/>
            <a:ext cx="166806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Hussain Al Ali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4094345"/>
            <a:ext cx="166806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2240000936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796778" y="3890749"/>
            <a:ext cx="166806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Sultan Al-Khalaf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96778" y="4094345"/>
            <a:ext cx="166806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2240003003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679156" y="3890749"/>
            <a:ext cx="166806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Ahmed Al Qasum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79156" y="4094345"/>
            <a:ext cx="166806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2240005481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561534" y="3890749"/>
            <a:ext cx="166806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Faris Al-Dahsh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61534" y="4094345"/>
            <a:ext cx="166806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2240004926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509367" y="4829175"/>
            <a:ext cx="212526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7A9BE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Year 2025–26 | Final Project Report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7F5AF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Executive Summary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67594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0106" y="1448842"/>
            <a:ext cx="15430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1743521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ChefLak is a business-focused web app for BIS 351 at Imam Abdulrahman Bin Faisal University, connecting freelance chefs with clients for custom home dining across the Eastern Province.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571500" y="2446400"/>
            <a:ext cx="3857625" cy="1014413"/>
          </a:xfrm>
          <a:prstGeom prst="rect">
            <a:avLst/>
          </a:prstGeom>
          <a:solidFill>
            <a:srgbClr val="7F5AF0">
              <a:alpha val="5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71500" y="2446400"/>
            <a:ext cx="3857625" cy="14288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9" name="Text 5"/>
          <p:cNvSpPr/>
          <p:nvPr/>
        </p:nvSpPr>
        <p:spPr>
          <a:xfrm>
            <a:off x="714375" y="2589275"/>
            <a:ext cx="3571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The Market Gap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14375" y="2801801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Addresses the lack of a centralized, trusted digital solution for private chef booking in the region.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467594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36344" y="1448842"/>
            <a:ext cx="246280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Technical &amp; Strategic Focus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14875" y="1743521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as a Single Page Application using native HTML5, CSS3, and JavaScript, covering authentication, discovery, booking, payment simulation, and order management.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714875" y="2446400"/>
            <a:ext cx="3857625" cy="1014413"/>
          </a:xfrm>
          <a:prstGeom prst="rect">
            <a:avLst/>
          </a:prstGeom>
          <a:solidFill>
            <a:srgbClr val="7F5AF0">
              <a:alpha val="5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4714875" y="2446400"/>
            <a:ext cx="3857625" cy="14288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16" name="Text 11"/>
          <p:cNvSpPr/>
          <p:nvPr/>
        </p:nvSpPr>
        <p:spPr>
          <a:xfrm>
            <a:off x="4857750" y="2589275"/>
            <a:ext cx="3571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Vision 2030 Alignment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4857750" y="2801801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Supports Saudi Arabia's digital transformation goals and demonstrates mastery of CLO S-1 standards.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7F5AF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Value Proposition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82266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8681" y="960834"/>
            <a:ext cx="209847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A9B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Industry Challenges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71500" y="1353741"/>
            <a:ext cx="393620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Fragmented Market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71500" y="1605558"/>
            <a:ext cx="39362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chef services are currently scattered across social media (Instagram/WhatsApp), making discovery difficult and time-consuming.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71500" y="2098477"/>
            <a:ext cx="393620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Lack of Transparency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1500" y="2350294"/>
            <a:ext cx="39362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Pricing and availability are often hidden, requiring multiple inquiries and manual negotiations for every event.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71500" y="2843213"/>
            <a:ext cx="393620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Inconsistent Quality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71500" y="3095030"/>
            <a:ext cx="39362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standardized rating or verification system exists to ensure the quality and safety of freelance culinary services.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294" y="982266"/>
            <a:ext cx="200025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43475" y="960834"/>
            <a:ext cx="190202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ChefLak Edge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636294" y="1353741"/>
            <a:ext cx="393620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Centralized Discovery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636294" y="1605558"/>
            <a:ext cx="39362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unified digital storefront showcasing diverse culinary specialties, ratings, and portfolios in one place.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4636294" y="2098477"/>
            <a:ext cx="393620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Real-time Booking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636294" y="2350294"/>
            <a:ext cx="39362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booking flow with live cost calculation based on duration, eliminating manual back-and-forth.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636294" y="2843213"/>
            <a:ext cx="393620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Verified Trust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636294" y="3095030"/>
            <a:ext cx="39362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Transparent rating system and standardized service fees ensure professional accountability for both chefs and clients.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7F5AF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Market Analysis: SWOT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77404"/>
            <a:ext cx="3971925" cy="1171575"/>
          </a:xfrm>
          <a:prstGeom prst="rect">
            <a:avLst/>
          </a:prstGeom>
          <a:solidFill>
            <a:srgbClr val="7F5AF0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77404"/>
            <a:ext cx="3971925" cy="14288"/>
          </a:xfrm>
          <a:prstGeom prst="rect">
            <a:avLst/>
          </a:prstGeom>
          <a:solidFill>
            <a:srgbClr val="2CB67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480096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2975" y="1463129"/>
            <a:ext cx="81438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000125" y="1768525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 SPA architecture (Arabic/English)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000125" y="1994250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Transparent live cost calculation system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000125" y="2219976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rating and review ecosystem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600575" y="1377404"/>
            <a:ext cx="3971925" cy="1171575"/>
          </a:xfrm>
          <a:prstGeom prst="rect">
            <a:avLst/>
          </a:prstGeom>
          <a:solidFill>
            <a:srgbClr val="7F5AF0">
              <a:alpha val="3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4600575" y="1377404"/>
            <a:ext cx="3971925" cy="14288"/>
          </a:xfrm>
          <a:prstGeom prst="rect">
            <a:avLst/>
          </a:prstGeom>
          <a:solidFill>
            <a:srgbClr val="E1616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1480096"/>
            <a:ext cx="157163" cy="1571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72050" y="1463129"/>
            <a:ext cx="103227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61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029200" y="1768525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initial geographic coverage (Eastern Province)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5029200" y="1994250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brand entering a competitive F&amp;B market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5029200" y="2219976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Dependency on freelance chef availability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571500" y="2606129"/>
            <a:ext cx="3971925" cy="1171575"/>
          </a:xfrm>
          <a:prstGeom prst="rect">
            <a:avLst/>
          </a:prstGeom>
          <a:solidFill>
            <a:srgbClr val="7F5AF0">
              <a:alpha val="3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571500" y="2606129"/>
            <a:ext cx="3971925" cy="14288"/>
          </a:xfrm>
          <a:prstGeom prst="rect">
            <a:avLst/>
          </a:prstGeom>
          <a:solidFill>
            <a:srgbClr val="7F5AF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708821"/>
            <a:ext cx="117872" cy="15716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3684" y="2691854"/>
            <a:ext cx="115193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5AF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000125" y="2997250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Alignment with Saudi Vision 2030 digital goals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1000125" y="3222975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Expansion to major cities like Riyadh and Jeddah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000125" y="3448701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Growing demand for personalized gig-economy services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600575" y="2606129"/>
            <a:ext cx="3971925" cy="1171575"/>
          </a:xfrm>
          <a:prstGeom prst="rect">
            <a:avLst/>
          </a:prstGeom>
          <a:solidFill>
            <a:srgbClr val="7F5AF0">
              <a:alpha val="3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4600575" y="2606129"/>
            <a:ext cx="3971925" cy="14288"/>
          </a:xfrm>
          <a:prstGeom prst="rect">
            <a:avLst/>
          </a:prstGeom>
          <a:solidFill>
            <a:srgbClr val="FF890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2694533"/>
            <a:ext cx="157163" cy="15716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72050" y="2677567"/>
            <a:ext cx="61793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90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Threats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029200" y="2982962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Established food delivery giants entering the niche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5029200" y="3208688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Fluctuating regulatory requirements for home catering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5029200" y="3434414"/>
            <a:ext cx="3400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 shifts affecting luxury dining spending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571500" y="3892004"/>
            <a:ext cx="8001000" cy="5786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26"/>
          <p:cNvSpPr/>
          <p:nvPr/>
        </p:nvSpPr>
        <p:spPr>
          <a:xfrm>
            <a:off x="571500" y="3892004"/>
            <a:ext cx="8001000" cy="7144"/>
          </a:xfrm>
          <a:prstGeom prst="rect">
            <a:avLst/>
          </a:prstGeom>
          <a:solidFill>
            <a:srgbClr val="EDEEF2"/>
          </a:solidFill>
          <a:ln/>
        </p:spPr>
      </p:sp>
      <p:sp>
        <p:nvSpPr>
          <p:cNvPr id="34" name="Text 27"/>
          <p:cNvSpPr/>
          <p:nvPr/>
        </p:nvSpPr>
        <p:spPr>
          <a:xfrm>
            <a:off x="571500" y="3977729"/>
            <a:ext cx="8001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PESTLE INSIGHTS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571500" y="4192042"/>
            <a:ext cx="1600200" cy="271463"/>
          </a:xfrm>
          <a:prstGeom prst="rect">
            <a:avLst/>
          </a:prstGeom>
          <a:noFill/>
          <a:ln/>
        </p:spPr>
        <p:txBody>
          <a:bodyPr wrap="square" lIns="0" tIns="0" rIns="127508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Political:</a:t>
            </a: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Vision 2030 support.</a:t>
            </a:r>
            <a:endParaRPr lang="en-US" sz="700" dirty="0"/>
          </a:p>
        </p:txBody>
      </p:sp>
      <p:sp>
        <p:nvSpPr>
          <p:cNvPr id="36" name="Text 29"/>
          <p:cNvSpPr/>
          <p:nvPr/>
        </p:nvSpPr>
        <p:spPr>
          <a:xfrm>
            <a:off x="2171700" y="4192042"/>
            <a:ext cx="1600200" cy="271463"/>
          </a:xfrm>
          <a:prstGeom prst="rect">
            <a:avLst/>
          </a:prstGeom>
          <a:noFill/>
          <a:ln/>
        </p:spPr>
        <p:txBody>
          <a:bodyPr wrap="square" lIns="0" tIns="0" rIns="127508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Economic:</a:t>
            </a: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Rising gig economy.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3771900" y="4192042"/>
            <a:ext cx="1600200" cy="271463"/>
          </a:xfrm>
          <a:prstGeom prst="rect">
            <a:avLst/>
          </a:prstGeom>
          <a:noFill/>
          <a:ln/>
        </p:spPr>
        <p:txBody>
          <a:bodyPr wrap="square" lIns="0" tIns="0" rIns="127508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Social:</a:t>
            </a: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Demand for home </a:t>
            </a: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privacy.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5372100" y="4192042"/>
            <a:ext cx="1600200" cy="271463"/>
          </a:xfrm>
          <a:prstGeom prst="rect">
            <a:avLst/>
          </a:prstGeom>
          <a:noFill/>
          <a:ln/>
        </p:spPr>
        <p:txBody>
          <a:bodyPr wrap="square" lIns="0" tIns="0" rIns="127508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Technological:</a:t>
            </a: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SPA &amp; i18n </a:t>
            </a: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innovation.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6972300" y="4192042"/>
            <a:ext cx="1600200" cy="271463"/>
          </a:xfrm>
          <a:prstGeom prst="rect">
            <a:avLst/>
          </a:prstGeom>
          <a:noFill/>
          <a:ln/>
        </p:spPr>
        <p:txBody>
          <a:bodyPr wrap="square" lIns="0" tIns="0" rIns="127508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Legal:</a:t>
            </a: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PDPL &amp; SFDA </a:t>
            </a:r>
            <a:r>
              <a:rPr lang="en-US" sz="7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7F5AF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Technical Implementation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48842"/>
            <a:ext cx="2571750" cy="2728913"/>
          </a:xfrm>
          <a:prstGeom prst="rect">
            <a:avLst/>
          </a:prstGeom>
          <a:solidFill>
            <a:srgbClr val="7F5AF0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48842"/>
            <a:ext cx="2571750" cy="14288"/>
          </a:xfrm>
          <a:prstGeom prst="rect">
            <a:avLst/>
          </a:prstGeom>
          <a:solidFill>
            <a:srgbClr val="7F5A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63636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1989981"/>
            <a:ext cx="22860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Native Tech Stack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302520"/>
            <a:ext cx="125016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0828" y="2266801"/>
            <a:ext cx="2089547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A7A9B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HTML5 &amp; CSS3: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Semantic structure 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Glassmorphism styling.</a:t>
            </a:r>
            <a:endParaRPr lang="en-US" sz="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682534"/>
            <a:ext cx="87511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3323" y="2646815"/>
            <a:ext cx="2127052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A7A9B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Vanilla JavaScript: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Zero-dependency 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implementation for fast loads.</a:t>
            </a:r>
            <a:endParaRPr lang="en-US" sz="8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062548"/>
            <a:ext cx="75009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60822" y="3026829"/>
            <a:ext cx="2139553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A7A9B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Responsive Design: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Fluid breakpoints 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desktop &amp; mobile.</a:t>
            </a:r>
            <a:endParaRPr lang="en-US" sz="800" dirty="0"/>
          </a:p>
        </p:txBody>
      </p:sp>
      <p:sp>
        <p:nvSpPr>
          <p:cNvPr id="14" name="Shape 7"/>
          <p:cNvSpPr/>
          <p:nvPr/>
        </p:nvSpPr>
        <p:spPr>
          <a:xfrm>
            <a:off x="3286125" y="1448842"/>
            <a:ext cx="2571750" cy="2728913"/>
          </a:xfrm>
          <a:prstGeom prst="rect">
            <a:avLst/>
          </a:prstGeom>
          <a:solidFill>
            <a:srgbClr val="7F5AF0">
              <a:alpha val="3000"/>
            </a:srgbClr>
          </a:solidFill>
          <a:ln/>
        </p:spPr>
      </p:sp>
      <p:sp>
        <p:nvSpPr>
          <p:cNvPr id="15" name="Shape 8"/>
          <p:cNvSpPr/>
          <p:nvPr/>
        </p:nvSpPr>
        <p:spPr>
          <a:xfrm>
            <a:off x="3286125" y="1448842"/>
            <a:ext cx="2571750" cy="14288"/>
          </a:xfrm>
          <a:prstGeom prst="rect">
            <a:avLst/>
          </a:prstGeom>
          <a:solidFill>
            <a:srgbClr val="7F5AF0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636365"/>
            <a:ext cx="257175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429000" y="1989981"/>
            <a:ext cx="22860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SPA Architecture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302520"/>
            <a:ext cx="100013" cy="1000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600450" y="2266801"/>
            <a:ext cx="2114550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A7A9B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DOM Manipulation: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Dynamic updates 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without full reloads.</a:t>
            </a:r>
            <a:endParaRPr lang="en-US" sz="8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2682534"/>
            <a:ext cx="87511" cy="10001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587948" y="2646815"/>
            <a:ext cx="2127052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A7A9B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State Management: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Global JS objects 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persistence.</a:t>
            </a:r>
            <a:endParaRPr lang="en-US" sz="8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3062548"/>
            <a:ext cx="75009" cy="10001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575447" y="3026829"/>
            <a:ext cx="2139553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A7A9B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Performance: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Optimized assets and 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 handling.</a:t>
            </a:r>
            <a:endParaRPr lang="en-US" sz="800" dirty="0"/>
          </a:p>
        </p:txBody>
      </p:sp>
      <p:sp>
        <p:nvSpPr>
          <p:cNvPr id="24" name="Shape 13"/>
          <p:cNvSpPr/>
          <p:nvPr/>
        </p:nvSpPr>
        <p:spPr>
          <a:xfrm>
            <a:off x="6000750" y="1448842"/>
            <a:ext cx="2571750" cy="2728913"/>
          </a:xfrm>
          <a:prstGeom prst="rect">
            <a:avLst/>
          </a:prstGeom>
          <a:solidFill>
            <a:srgbClr val="7F5AF0">
              <a:alpha val="3000"/>
            </a:srgbClr>
          </a:solidFill>
          <a:ln/>
        </p:spPr>
      </p:sp>
      <p:sp>
        <p:nvSpPr>
          <p:cNvPr id="25" name="Shape 14"/>
          <p:cNvSpPr/>
          <p:nvPr/>
        </p:nvSpPr>
        <p:spPr>
          <a:xfrm>
            <a:off x="6000750" y="1448842"/>
            <a:ext cx="2571750" cy="14288"/>
          </a:xfrm>
          <a:prstGeom prst="rect">
            <a:avLst/>
          </a:prstGeom>
          <a:solidFill>
            <a:srgbClr val="7F5AF0"/>
          </a:solidFill>
          <a:ln/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25" y="1636365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143625" y="1989981"/>
            <a:ext cx="22860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Business Logic</a:t>
            </a:r>
            <a:endParaRPr lang="en-US" sz="11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3625" y="2302520"/>
            <a:ext cx="125016" cy="100013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340078" y="2266801"/>
            <a:ext cx="2089547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A7A9B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i18n Engine: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Bilingual engine 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supporting RTL Arabic &amp; LTR English.</a:t>
            </a:r>
            <a:endParaRPr lang="en-US" sz="8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3625" y="2682534"/>
            <a:ext cx="75009" cy="100013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290072" y="2646815"/>
            <a:ext cx="2139553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A7A9B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Live Calculation: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Real-time cost engine 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bookings.</a:t>
            </a:r>
            <a:endParaRPr lang="en-US" sz="8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3625" y="3062548"/>
            <a:ext cx="100013" cy="100013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315075" y="3026829"/>
            <a:ext cx="2114550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A7A9B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Validation: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Client-side regex for Saudi 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numbers &amp; card data.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86777"/>
            <a:ext cx="857250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F5AF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Interface: Onboarding &amp; Discovery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531134" y="1296758"/>
            <a:ext cx="414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STEP 01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588159" y="1441419"/>
            <a:ext cx="2300288" cy="2014538"/>
          </a:xfrm>
          <a:prstGeom prst="rect">
            <a:avLst/>
          </a:prstGeom>
          <a:solidFill>
            <a:srgbClr val="A7A9BE">
              <a:alpha val="10000"/>
            </a:srgbClr>
          </a:solidFill>
          <a:ln w="9144">
            <a:solidFill>
              <a:srgbClr val="7F5AF0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1" y="1860919"/>
            <a:ext cx="2143125" cy="11612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0736" y="3470244"/>
            <a:ext cx="107513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Login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421953" y="1296758"/>
            <a:ext cx="414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STEP 02</a:t>
            </a:r>
            <a:endParaRPr lang="en-US" sz="600" dirty="0"/>
          </a:p>
        </p:txBody>
      </p:sp>
      <p:sp>
        <p:nvSpPr>
          <p:cNvPr id="9" name="Shape 5"/>
          <p:cNvSpPr/>
          <p:nvPr/>
        </p:nvSpPr>
        <p:spPr>
          <a:xfrm>
            <a:off x="3478978" y="1441419"/>
            <a:ext cx="2300288" cy="2014538"/>
          </a:xfrm>
          <a:prstGeom prst="rect">
            <a:avLst/>
          </a:prstGeom>
          <a:solidFill>
            <a:srgbClr val="A7A9BE">
              <a:alpha val="10000"/>
            </a:srgbClr>
          </a:solidFill>
          <a:ln w="9144">
            <a:solidFill>
              <a:srgbClr val="7F5AF0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560" y="1861840"/>
            <a:ext cx="2143125" cy="11593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13854" y="3470244"/>
            <a:ext cx="143053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Registration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7312800" y="1296758"/>
            <a:ext cx="414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STEP 03</a:t>
            </a:r>
            <a:endParaRPr lang="en-US" sz="600" dirty="0"/>
          </a:p>
        </p:txBody>
      </p:sp>
      <p:sp>
        <p:nvSpPr>
          <p:cNvPr id="13" name="Shape 8"/>
          <p:cNvSpPr/>
          <p:nvPr/>
        </p:nvSpPr>
        <p:spPr>
          <a:xfrm>
            <a:off x="6369825" y="1441419"/>
            <a:ext cx="2300288" cy="2014538"/>
          </a:xfrm>
          <a:prstGeom prst="rect">
            <a:avLst/>
          </a:prstGeom>
          <a:solidFill>
            <a:srgbClr val="A7A9BE">
              <a:alpha val="10000"/>
            </a:srgbClr>
          </a:solidFill>
          <a:ln w="9144">
            <a:solidFill>
              <a:srgbClr val="7F5AF0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192" y="1512856"/>
            <a:ext cx="1045527" cy="18573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01142" y="3470244"/>
            <a:ext cx="123765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Chef Discovery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86777"/>
            <a:ext cx="857250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F5AF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Interface: Booking &amp; Payment Flow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640663" y="1296758"/>
            <a:ext cx="414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STEP 04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626250" y="1441419"/>
            <a:ext cx="2443163" cy="2157413"/>
          </a:xfrm>
          <a:prstGeom prst="rect">
            <a:avLst/>
          </a:prstGeom>
          <a:solidFill>
            <a:srgbClr val="A7A9BE">
              <a:alpha val="10000"/>
            </a:srgbClr>
          </a:solidFill>
          <a:ln w="9144">
            <a:solidFill>
              <a:srgbClr val="7F5AF0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31" y="1771817"/>
            <a:ext cx="2286000" cy="1482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4001" y="3627406"/>
            <a:ext cx="128766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Empty State UX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421953" y="1296758"/>
            <a:ext cx="414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STEP 05</a:t>
            </a:r>
            <a:endParaRPr lang="en-US" sz="600" dirty="0"/>
          </a:p>
        </p:txBody>
      </p:sp>
      <p:sp>
        <p:nvSpPr>
          <p:cNvPr id="9" name="Shape 5"/>
          <p:cNvSpPr/>
          <p:nvPr/>
        </p:nvSpPr>
        <p:spPr>
          <a:xfrm>
            <a:off x="3407541" y="1441419"/>
            <a:ext cx="2443163" cy="2157413"/>
          </a:xfrm>
          <a:prstGeom prst="rect">
            <a:avLst/>
          </a:prstGeom>
          <a:solidFill>
            <a:srgbClr val="A7A9BE">
              <a:alpha val="10000"/>
            </a:srgbClr>
          </a:solidFill>
          <a:ln w="9144">
            <a:solidFill>
              <a:srgbClr val="7F5AF0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284" y="1512884"/>
            <a:ext cx="1339676" cy="20001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68325" y="3627406"/>
            <a:ext cx="132159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Booking Engine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7203272" y="1296758"/>
            <a:ext cx="414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STEP 06</a:t>
            </a:r>
            <a:endParaRPr lang="en-US" sz="600" dirty="0"/>
          </a:p>
        </p:txBody>
      </p:sp>
      <p:sp>
        <p:nvSpPr>
          <p:cNvPr id="13" name="Shape 8"/>
          <p:cNvSpPr/>
          <p:nvPr/>
        </p:nvSpPr>
        <p:spPr>
          <a:xfrm>
            <a:off x="6188859" y="1441419"/>
            <a:ext cx="2443163" cy="2157413"/>
          </a:xfrm>
          <a:prstGeom prst="rect">
            <a:avLst/>
          </a:prstGeom>
          <a:solidFill>
            <a:srgbClr val="A7A9BE">
              <a:alpha val="10000"/>
            </a:srgbClr>
          </a:solidFill>
          <a:ln w="9144">
            <a:solidFill>
              <a:srgbClr val="7F5AF0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583" y="1512856"/>
            <a:ext cx="1469715" cy="200022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07674" y="3627406"/>
            <a:ext cx="140553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Checkout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F5AF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Interface: Fulfillment &amp; Team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450181" y="1239608"/>
            <a:ext cx="414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STEP 07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507206" y="1391413"/>
            <a:ext cx="2300288" cy="2014538"/>
          </a:xfrm>
          <a:prstGeom prst="rect">
            <a:avLst/>
          </a:prstGeom>
          <a:solidFill>
            <a:srgbClr val="A7A9BE">
              <a:alpha val="10000"/>
            </a:srgbClr>
          </a:solidFill>
          <a:ln w="9144">
            <a:solidFill>
              <a:srgbClr val="7F5AF0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94" y="1462850"/>
            <a:ext cx="1597884" cy="18573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3678" y="3434525"/>
            <a:ext cx="160734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Order Confirmation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364831" y="1239608"/>
            <a:ext cx="414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STEP 08</a:t>
            </a:r>
            <a:endParaRPr lang="en-US" sz="600" dirty="0"/>
          </a:p>
        </p:txBody>
      </p:sp>
      <p:sp>
        <p:nvSpPr>
          <p:cNvPr id="9" name="Shape 5"/>
          <p:cNvSpPr/>
          <p:nvPr/>
        </p:nvSpPr>
        <p:spPr>
          <a:xfrm>
            <a:off x="3421856" y="1391413"/>
            <a:ext cx="2300288" cy="2014538"/>
          </a:xfrm>
          <a:prstGeom prst="rect">
            <a:avLst/>
          </a:prstGeom>
          <a:solidFill>
            <a:srgbClr val="A7A9BE">
              <a:alpha val="10000"/>
            </a:srgbClr>
          </a:solidFill>
          <a:ln w="9144">
            <a:solidFill>
              <a:srgbClr val="7F5AF0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438" y="1588536"/>
            <a:ext cx="2143125" cy="16060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60291" y="3434525"/>
            <a:ext cx="162341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Order Management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7279481" y="1239608"/>
            <a:ext cx="414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STEP 09</a:t>
            </a:r>
            <a:endParaRPr lang="en-US" sz="600" dirty="0"/>
          </a:p>
        </p:txBody>
      </p:sp>
      <p:sp>
        <p:nvSpPr>
          <p:cNvPr id="13" name="Shape 8"/>
          <p:cNvSpPr/>
          <p:nvPr/>
        </p:nvSpPr>
        <p:spPr>
          <a:xfrm>
            <a:off x="6336506" y="1391413"/>
            <a:ext cx="2300288" cy="2014538"/>
          </a:xfrm>
          <a:prstGeom prst="rect">
            <a:avLst/>
          </a:prstGeom>
          <a:solidFill>
            <a:srgbClr val="A7A9BE">
              <a:alpha val="10000"/>
            </a:srgbClr>
          </a:solidFill>
          <a:ln w="9144">
            <a:solidFill>
              <a:srgbClr val="7F5AF0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934" y="1462850"/>
            <a:ext cx="1383432" cy="18573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49963" y="3434525"/>
            <a:ext cx="127337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Mission &amp; Team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7F5AF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Values, Ethics &amp; Legal Responsibility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70657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9391" y="953691"/>
            <a:ext cx="270926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Privacy &amp; PDPL Compliance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1187648"/>
            <a:ext cx="4723442" cy="33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ChefLak follows </a:t>
            </a:r>
            <a:r>
              <a:rPr lang="en-US" sz="80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Saudi PDPL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Passwords are bcrypt-hashed and payments use tokenized 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providers, so no raw card data is stored.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57517"/>
            <a:ext cx="196453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9391" y="1640551"/>
            <a:ext cx="249138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Fair Treatment of Gig Workers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71500" y="1874509"/>
            <a:ext cx="4723442" cy="33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Chefs set their own rates and all service fees are shown to clients upfront, ensuring transparency and fairness.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44378"/>
            <a:ext cx="137517" cy="1571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0455" y="2327411"/>
            <a:ext cx="293786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Food Safety &amp; Consumer Protection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571500" y="2561369"/>
            <a:ext cx="4723442" cy="33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Onboarded chefs provide municipal health certificates and </a:t>
            </a:r>
            <a:r>
              <a:rPr lang="en-US" sz="800" dirty="0">
                <a:solidFill>
                  <a:srgbClr val="7F5A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SFDA compliance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where </a:t>
            </a:r>
            <a:r>
              <a:rPr lang="en-US" sz="8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required; ratings add continuous accountability.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670" y="946547"/>
            <a:ext cx="3014663" cy="25860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15491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7F5AF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 &amp; Future Roadmap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598861"/>
            <a:ext cx="571500" cy="571500"/>
          </a:xfrm>
          <a:prstGeom prst="rect">
            <a:avLst/>
          </a:prstGeom>
          <a:solidFill>
            <a:srgbClr val="7F5AF0">
              <a:alpha val="1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770311"/>
            <a:ext cx="25717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85900" y="1598861"/>
            <a:ext cx="7143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Geographic Expansion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485900" y="1993553"/>
            <a:ext cx="7143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Scaling operations beyond the Eastern Province to establish a presence in Riyadh and Jeddah, targeting high-demand urban centers across the Kingdom.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628650" y="2686496"/>
            <a:ext cx="571500" cy="571500"/>
          </a:xfrm>
          <a:prstGeom prst="rect">
            <a:avLst/>
          </a:prstGeom>
          <a:solidFill>
            <a:srgbClr val="7F5AF0">
              <a:alpha val="10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857946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5900" y="2686496"/>
            <a:ext cx="7143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Service Diversification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485900" y="3081189"/>
            <a:ext cx="7143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Introducing subscription-based models for recurring family dining and premium "Chef Masterclasses" for interactive culinary education.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28650" y="3774132"/>
            <a:ext cx="571500" cy="571500"/>
          </a:xfrm>
          <a:prstGeom prst="rect">
            <a:avLst/>
          </a:prstGeom>
          <a:solidFill>
            <a:srgbClr val="7F5AF0">
              <a:alpha val="10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3945582"/>
            <a:ext cx="17145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85900" y="3774132"/>
            <a:ext cx="7143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Mobile Ecosystem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485900" y="4168825"/>
            <a:ext cx="7143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A9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Transitioning from a web-based SPA to native iOS and Android applications, featuring real-time push notifications and AI-driven menu personalization.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2026-05-16T19:27:01Z</dcterms:created>
  <dcterms:modified xsi:type="dcterms:W3CDTF">2026-05-16T19:27:01Z</dcterms:modified>
</cp:coreProperties>
</file>